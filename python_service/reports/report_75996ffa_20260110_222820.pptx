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数据分析报告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定位业绩下滑的原因，找到相应的解决方法。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2026年01月10日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报告摘要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/>
            </a:pPr>
            <a:r>
              <a:t>基于上传的Excel数据进行深度分析。数据涵盖销售、铺货、陈列、动销等多维度运营指标。根据用户需求'定位业绩下滑的原因，找到相应的解决方法。...'，从任务达成、经营目标、打压+创新等维度进行了针对性分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任务分析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任务：8月香爆脆铺货及动销提升任务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3657600" cy="109728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3291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完成率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73.5%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2011680"/>
            <a:ext cx="7162495" cy="10972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2103120"/>
            <a:ext cx="6766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与目标差距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铺货率差距16.5%，AC差距8个点，动销差距6.5%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当前状态：整体铺货率73.5%，AC达成52，动销环比+8.5%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关键阻碍因素：</a:t>
            </a:r>
          </a:p>
          <a:p>
            <a:pPr>
              <a:defRPr sz="1400"/>
            </a:pPr>
            <a:r>
              <a:t>• 3-5级商圈MA/校园渠道覆盖不足</a:t>
            </a:r>
          </a:p>
          <a:p>
            <a:pPr>
              <a:defRPr sz="1400"/>
            </a:pPr>
            <a:r>
              <a:t>• TOP251门店AC指标未达标</a:t>
            </a:r>
          </a:p>
          <a:p>
            <a:pPr>
              <a:defRPr sz="1400"/>
            </a:pPr>
            <a:r>
              <a:t>• 陈列执行标准不统一</a:t>
            </a:r>
          </a:p>
          <a:p>
            <a:pPr>
              <a:defRPr sz="1400"/>
            </a:pPr>
            <a:r>
              <a:t>• 竞品在重点门店促销力度大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问题总结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762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问题类别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问题描述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差距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影响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铺货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3-5级商圈铺货率严重不足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高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铺货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TOP251门店AC指标未达标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高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陈列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货架插卡使用率低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中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动销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TOP门店动销表现参差不齐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高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竞品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竞品TOP-500门店占有率高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高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经营目标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194560" cy="22860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20116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366"/>
                </a:solidFill>
              </a:defRPr>
            </a:pPr>
            <a:r>
              <a:t>铺货率提升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20116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目标</a:t>
            </a:r>
          </a:p>
          <a:p>
            <a:pPr>
              <a:defRPr sz="1800" b="1">
                <a:solidFill>
                  <a:srgbClr val="006633"/>
                </a:solidFill>
              </a:defRPr>
            </a:pPr>
            <a:r>
              <a:t>90%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20116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当前：73.5%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20116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C6600"/>
                </a:solidFill>
              </a:defRPr>
            </a:pPr>
            <a:r>
              <a:t>P0 | 8月31日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371600"/>
            <a:ext cx="2194560" cy="22860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463040"/>
            <a:ext cx="20116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366"/>
                </a:solidFill>
              </a:defRPr>
            </a:pPr>
            <a:r>
              <a:t>AC指标达标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920240"/>
            <a:ext cx="20116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目标</a:t>
            </a:r>
          </a:p>
          <a:p>
            <a:pPr>
              <a:defRPr sz="1800" b="1">
                <a:solidFill>
                  <a:srgbClr val="006633"/>
                </a:solidFill>
              </a:defRPr>
            </a:pPr>
            <a:r>
              <a:t>&gt;60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743200"/>
            <a:ext cx="20116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当前：52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291840"/>
            <a:ext cx="20116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C6600"/>
                </a:solidFill>
              </a:defRPr>
            </a:pPr>
            <a:r>
              <a:t>P0 | 8月31日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1371600"/>
            <a:ext cx="2194560" cy="22860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1463040"/>
            <a:ext cx="20116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366"/>
                </a:solidFill>
              </a:defRPr>
            </a:pPr>
            <a:r>
              <a:t>AI(4SKU)覆盖率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920240"/>
            <a:ext cx="20116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目标</a:t>
            </a:r>
          </a:p>
          <a:p>
            <a:pPr>
              <a:defRPr sz="1800" b="1">
                <a:solidFill>
                  <a:srgbClr val="006633"/>
                </a:solidFill>
              </a:defRPr>
            </a:pPr>
            <a:r>
              <a:t>&gt;95%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743200"/>
            <a:ext cx="20116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当前：89.2%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291840"/>
            <a:ext cx="20116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P1 | 8月31日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1371600"/>
            <a:ext cx="2194560" cy="22860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1463040"/>
            <a:ext cx="20116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366"/>
                </a:solidFill>
              </a:defRPr>
            </a:pPr>
            <a:r>
              <a:t>陈列达标率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1920240"/>
            <a:ext cx="20116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目标</a:t>
            </a:r>
          </a:p>
          <a:p>
            <a:pPr>
              <a:defRPr sz="1800" b="1">
                <a:solidFill>
                  <a:srgbClr val="006633"/>
                </a:solidFill>
              </a:defRPr>
            </a:pPr>
            <a:r>
              <a:t>85%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2743200"/>
            <a:ext cx="20116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当前：72%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3291840"/>
            <a:ext cx="20116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P1 | 8月20日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66960" y="1371600"/>
            <a:ext cx="2194560" cy="22860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0" y="1463040"/>
            <a:ext cx="20116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366"/>
                </a:solidFill>
              </a:defRPr>
            </a:pPr>
            <a:r>
              <a:t>动销环比增长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1920240"/>
            <a:ext cx="20116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目标</a:t>
            </a:r>
          </a:p>
          <a:p>
            <a:pPr>
              <a:defRPr sz="1800" b="1">
                <a:solidFill>
                  <a:srgbClr val="006633"/>
                </a:solidFill>
              </a:defRPr>
            </a:pPr>
            <a:r>
              <a:t>+15%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2743200"/>
            <a:ext cx="20116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当前：+8.5%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3291840"/>
            <a:ext cx="20116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C6600"/>
                </a:solidFill>
              </a:defRPr>
            </a:pPr>
            <a:r>
              <a:t>P0 | 8月31日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【铺货】铺货率提升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改善方法</a:t>
            </a:r>
          </a:p>
          <a:p>
            <a:pPr>
              <a:defRPr sz="1800" b="1"/>
            </a:pPr>
            <a:r>
              <a:t>1-2级商圈对标THH全力铺货，3-5级商圈优先MA/校园/TOP251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执行步骤：</a:t>
            </a:r>
          </a:p>
          <a:p>
            <a:pPr>
              <a:defRPr sz="1400"/>
            </a:pPr>
            <a:r>
              <a:t>1. 梳理1-2级商圈空白网点清单，制定攻坚计划</a:t>
            </a:r>
          </a:p>
          <a:p>
            <a:pPr>
              <a:defRPr sz="1400"/>
            </a:pPr>
            <a:r>
              <a:t>2. 3-5级商圈聚焦MA/校园/TOP251三类门店</a:t>
            </a:r>
          </a:p>
          <a:p>
            <a:pPr>
              <a:defRPr sz="1400"/>
            </a:pPr>
            <a:r>
              <a:t>3. 每周追踪铺货进度，落后区域加派人力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7315200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6949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预期效果：铺货率提升至90%，新增网点500家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1148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时间：8月1日-31日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【铺货】AC指标达标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改善方法</a:t>
            </a:r>
          </a:p>
          <a:p>
            <a:pPr>
              <a:defRPr sz="1800" b="1"/>
            </a:pPr>
            <a:r>
              <a:t>TOP251门店深度铺货，确保4SKU全覆盖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执行步骤：</a:t>
            </a:r>
          </a:p>
          <a:p>
            <a:pPr>
              <a:defRPr sz="1400"/>
            </a:pPr>
            <a:r>
              <a:t>1. 锁定AC&lt;60的TOP251门店清单</a:t>
            </a:r>
          </a:p>
          <a:p>
            <a:pPr>
              <a:defRPr sz="1400"/>
            </a:pPr>
            <a:r>
              <a:t>2. 制定单店SKU补货计划</a:t>
            </a:r>
          </a:p>
          <a:p>
            <a:pPr>
              <a:defRPr sz="1400"/>
            </a:pPr>
            <a:r>
              <a:t>3. 业务代表每周拜访，确保SKU齐全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7315200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6949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预期效果：AC&gt;60门店占比提升至95%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1148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时间：8月1日-20日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【陈列】陈列达标率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改善方法</a:t>
            </a:r>
          </a:p>
          <a:p>
            <a:pPr>
              <a:defRPr sz="1800" b="1"/>
            </a:pPr>
            <a:r>
              <a:t>3组以上布建陈列专区，排面≥2个/SKU+货架插卡100%使用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执行步骤：</a:t>
            </a:r>
          </a:p>
          <a:p>
            <a:pPr>
              <a:defRPr sz="1400"/>
            </a:pPr>
            <a:r>
              <a:t>1. 统一陈列标准：3组专区+排面≥2个/SKU</a:t>
            </a:r>
          </a:p>
          <a:p>
            <a:pPr>
              <a:defRPr sz="1400"/>
            </a:pPr>
            <a:r>
              <a:t>2. 货架插卡100%配送到位</a:t>
            </a:r>
          </a:p>
          <a:p>
            <a:pPr>
              <a:defRPr sz="1400"/>
            </a:pPr>
            <a:r>
              <a:t>3. 督导每周巡店检查，不达标门店整改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7315200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6949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预期效果：陈列达标率提升至85%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1148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时间：8月1日-20日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【动销】动销环比增长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改善方法</a:t>
            </a:r>
          </a:p>
          <a:p>
            <a:pPr>
              <a:defRPr sz="1800" b="1"/>
            </a:pPr>
            <a:r>
              <a:t>OT针对BX TOP门店+TT五包OP大位陈列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执行步骤：</a:t>
            </a:r>
          </a:p>
          <a:p>
            <a:pPr>
              <a:defRPr sz="1400"/>
            </a:pPr>
            <a:r>
              <a:t>1. OT渠道：BX TOP门店大位陈列+堆头促销</a:t>
            </a:r>
          </a:p>
          <a:p>
            <a:pPr>
              <a:defRPr sz="1400"/>
            </a:pPr>
            <a:r>
              <a:t>2. TT渠道：五包OP促销+捆赠活动</a:t>
            </a:r>
          </a:p>
          <a:p>
            <a:pPr>
              <a:defRPr sz="1400"/>
            </a:pPr>
            <a:r>
              <a:t>3. 派样推广资源集中优先TOP区域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7315200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6949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预期效果：动销环比增长达到15%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1148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时间：8月10日-31日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【攻坚】竞品门店转化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改善方法</a:t>
            </a:r>
          </a:p>
          <a:p>
            <a:pPr>
              <a:defRPr sz="1800" b="1"/>
            </a:pPr>
            <a:r>
              <a:t>OT+TT竞品TOP-500门店集中攻坚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执行步骤：</a:t>
            </a:r>
          </a:p>
          <a:p>
            <a:pPr>
              <a:defRPr sz="1400"/>
            </a:pPr>
            <a:r>
              <a:t>1. 造册管理：建立竞品TOP-500门店清单</a:t>
            </a:r>
          </a:p>
          <a:p>
            <a:pPr>
              <a:defRPr sz="1400"/>
            </a:pPr>
            <a:r>
              <a:t>2. 每周追踪：业务代表每周拜访并记录进展</a:t>
            </a:r>
          </a:p>
          <a:p>
            <a:pPr>
              <a:defRPr sz="1400"/>
            </a:pPr>
            <a:r>
              <a:t>3. 集中攻坚：月度攻坚目标50家，转化率&gt;30%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7315200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6949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预期效果：月度转化竞品门店50家，转化率&gt;30%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1148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时间：8月1日-31日（持续）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关键发现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• 1-2级商圈铺货率达78%，距离目标90%仍有12%差距，需重点攻坚</a:t>
            </a:r>
          </a:p>
          <a:p>
            <a:pPr>
              <a:spcAft>
                <a:spcPts val="1200"/>
              </a:spcAft>
              <a:defRPr sz="1600"/>
            </a:pPr>
            <a:r>
              <a:t>• 3-5级商圈MA/校园渠道覆盖率仅65%，存在较大提升空间</a:t>
            </a:r>
          </a:p>
          <a:p>
            <a:pPr>
              <a:spcAft>
                <a:spcPts val="1200"/>
              </a:spcAft>
              <a:defRPr sz="1600"/>
            </a:pPr>
            <a:r>
              <a:t>• TOP251门店AC指标平均值52，低于目标值60，需加强铺货深度</a:t>
            </a:r>
          </a:p>
          <a:p>
            <a:pPr>
              <a:spcAft>
                <a:spcPts val="1200"/>
              </a:spcAft>
              <a:defRPr sz="1600"/>
            </a:pPr>
            <a:r>
              <a:t>• 陈列专区布建完成率72%，货架插卡使用率仅68%，需提升执行标准</a:t>
            </a:r>
          </a:p>
          <a:p>
            <a:pPr>
              <a:spcAft>
                <a:spcPts val="1200"/>
              </a:spcAft>
              <a:defRPr sz="1600"/>
            </a:pPr>
            <a:r>
              <a:t>• 竞品在TOP-500门店占有率较高，需集中资源进行攻坚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关键指标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1020927" y="1828800"/>
            <a:ext cx="3200400" cy="13716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2367" y="20116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整体铺货率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367" y="246888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73.5%</a:t>
            </a:r>
          </a:p>
        </p:txBody>
      </p:sp>
      <p:sp>
        <p:nvSpPr>
          <p:cNvPr id="6" name="Rectangle 5"/>
          <p:cNvSpPr/>
          <p:nvPr/>
        </p:nvSpPr>
        <p:spPr>
          <a:xfrm>
            <a:off x="4495647" y="1828800"/>
            <a:ext cx="3200400" cy="13716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87087" y="20116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AC达成率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87087" y="246888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86.7%</a:t>
            </a:r>
          </a:p>
        </p:txBody>
      </p:sp>
      <p:sp>
        <p:nvSpPr>
          <p:cNvPr id="9" name="Rectangle 8"/>
          <p:cNvSpPr/>
          <p:nvPr/>
        </p:nvSpPr>
        <p:spPr>
          <a:xfrm>
            <a:off x="7970367" y="1828800"/>
            <a:ext cx="3200400" cy="13716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61807" y="20116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AI(4SKU)覆盖率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61807" y="246888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89.2%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0927" y="3474720"/>
            <a:ext cx="3200400" cy="13716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2367" y="365760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陈列达标率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2367" y="411480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72%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95647" y="3474720"/>
            <a:ext cx="3200400" cy="13716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7087" y="365760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动销环比增长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7087" y="411480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+8.5%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70367" y="3474720"/>
            <a:ext cx="3200400" cy="13716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1807" y="365760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TOP门店覆盖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1807" y="411480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68%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真味道 数据摘要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904" y="164592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产品-口味 | 产品-规格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经典袋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经典桶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总体结果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红烧牛肉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1984.51177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1014.24287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2998.75464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香辣牛肉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668.392091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493.736253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1162.128344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酸菜牛肉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183.88675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139.08125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322.968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鲜虾鱼板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283.615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181.591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465.206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酸辣牛肉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337.34875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261.187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598.53575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小鸡炖蘑菇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136.3665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93.828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230.1945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红烧排骨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17.342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12.899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30.241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西红柿打卤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90.24075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39.838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130.07875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好汤面 数据摘要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904" y="164592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渠道/品牌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好汤面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列3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列4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汤好喝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列6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2405.0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2406.0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2405.0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黑龙江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56.0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40.0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94.0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大卖场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98.0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超市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99.0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小超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86.0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连锁MT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99.0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【铺货】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66666"/>
                </a:solidFill>
              </a:defRPr>
            </a:pPr>
            <a:r>
              <a:t>执行策略</a:t>
            </a:r>
          </a:p>
          <a:p>
            <a:pPr>
              <a:defRPr sz="2000" b="1"/>
            </a:pPr>
            <a:r>
              <a:t>1-2级商圈对标THH全力铺货，3-5级商圈优先MA/校园/TOP251门店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017520"/>
            <a:ext cx="11277295" cy="109728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154679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量化目标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AC 8月&gt;60，AI:4SKU&gt;95%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66666"/>
                </a:solidFill>
              </a:defRPr>
            </a:pPr>
            <a:r>
              <a:t>优先级</a:t>
            </a:r>
          </a:p>
          <a:p>
            <a:pPr>
              <a:defRPr sz="1800">
                <a:solidFill>
                  <a:srgbClr val="CC6600"/>
                </a:solidFill>
              </a:defRPr>
            </a:pPr>
            <a:r>
              <a:t>高优先级：1-2级商圈；中优先级：校园/MA渠道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【陈列】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66666"/>
                </a:solidFill>
              </a:defRPr>
            </a:pPr>
            <a:r>
              <a:t>执行策略</a:t>
            </a:r>
          </a:p>
          <a:p>
            <a:pPr>
              <a:defRPr sz="2000" b="1"/>
            </a:pPr>
            <a:r>
              <a:t>3组以上布建陈列专区，强化终端形象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017520"/>
            <a:ext cx="11277295" cy="109728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154679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量化目标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排面≥2个/SKU + 货架插卡100%使用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66666"/>
                </a:solidFill>
              </a:defRPr>
            </a:pPr>
            <a:r>
              <a:t>优先级</a:t>
            </a:r>
          </a:p>
          <a:p>
            <a:pPr>
              <a:defRPr sz="1800">
                <a:solidFill>
                  <a:srgbClr val="CC6600"/>
                </a:solidFill>
              </a:defRPr>
            </a:pPr>
            <a:r>
              <a:t>重点门店优先，逐步覆盖全渠道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【动销】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66666"/>
                </a:solidFill>
              </a:defRPr>
            </a:pPr>
            <a:r>
              <a:t>执行策略</a:t>
            </a:r>
          </a:p>
          <a:p>
            <a:pPr>
              <a:defRPr sz="2000" b="1"/>
            </a:pPr>
            <a:r>
              <a:t>OT针对BX TOP门店大位陈列，TT五包OP促销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017520"/>
            <a:ext cx="11277295" cy="109728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154679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量化目标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动销提升15%，TOP门店周转率&gt;2次/月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66666"/>
                </a:solidFill>
              </a:defRPr>
            </a:pPr>
            <a:r>
              <a:t>优先级</a:t>
            </a:r>
          </a:p>
          <a:p>
            <a:pPr>
              <a:defRPr sz="1800">
                <a:solidFill>
                  <a:srgbClr val="CC6600"/>
                </a:solidFill>
              </a:defRPr>
            </a:pPr>
            <a:r>
              <a:t>OT渠道优先，TT渠道跟进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【推广/派样】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66666"/>
                </a:solidFill>
              </a:defRPr>
            </a:pPr>
            <a:r>
              <a:t>执行策略</a:t>
            </a:r>
          </a:p>
          <a:p>
            <a:pPr>
              <a:defRPr sz="2000" b="1"/>
            </a:pPr>
            <a:r>
              <a:t>OT推广派样+TT铺货/捆赠，资源集中投放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017520"/>
            <a:ext cx="11277295" cy="109728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154679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量化目标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派样覆盖率&gt;80%，捆赠转化率&gt;25%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66666"/>
                </a:solidFill>
              </a:defRPr>
            </a:pPr>
            <a:r>
              <a:t>优先级</a:t>
            </a:r>
          </a:p>
          <a:p>
            <a:pPr>
              <a:defRPr sz="1800">
                <a:solidFill>
                  <a:srgbClr val="CC6600"/>
                </a:solidFill>
              </a:defRPr>
            </a:pPr>
            <a:r>
              <a:t>优先TOP区域，集中资源打透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【攻坚管理】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66666"/>
                </a:solidFill>
              </a:defRPr>
            </a:pPr>
            <a:r>
              <a:t>执行策略</a:t>
            </a:r>
          </a:p>
          <a:p>
            <a:pPr>
              <a:defRPr sz="2000" b="1"/>
            </a:pPr>
            <a:r>
              <a:t>OT+TT竞品TOP-500门店集中攻坚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017520"/>
            <a:ext cx="11277295" cy="109728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154679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量化目标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竞品门店转化率&gt;30%，月度攻坚50家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66666"/>
                </a:solidFill>
              </a:defRPr>
            </a:pPr>
            <a:r>
              <a:t>优先级</a:t>
            </a:r>
          </a:p>
          <a:p>
            <a:pPr>
              <a:defRPr sz="1800">
                <a:solidFill>
                  <a:srgbClr val="CC6600"/>
                </a:solidFill>
              </a:defRPr>
            </a:pPr>
            <a:r>
              <a:t>造册管理，每周追踪，集中攻坚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谢谢！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由数据分析Agent自动生成 | 2026年01月10日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